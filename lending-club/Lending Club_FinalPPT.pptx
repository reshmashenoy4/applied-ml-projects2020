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85" r:id="rId4"/>
    <p:sldId id="267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73" r:id="rId15"/>
    <p:sldId id="283" r:id="rId16"/>
    <p:sldId id="284" r:id="rId17"/>
    <p:sldId id="272" r:id="rId18"/>
    <p:sldId id="28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09023-AF2B-4043-B228-F191CADC9BB1}" type="datetimeFigureOut">
              <a:rPr lang="en-IN" smtClean="0"/>
              <a:t>17-08-2020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4517F-9C19-4E9A-AB98-AA89BD9F1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562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7F905-863B-47A1-A12C-396C9A1CF1D9}" type="datetime1">
              <a:rPr lang="en-US" smtClean="0"/>
              <a:t>2020-08-17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67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36469" y="640080"/>
            <a:ext cx="9313817" cy="85613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49" y="1854926"/>
            <a:ext cx="11168742" cy="434426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926B6-3B86-484E-9A44-A03C615DB79D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584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E0B33-5688-4BE9-B4CD-5085351E2750}" type="datetime1">
              <a:rPr lang="en-US" smtClean="0"/>
              <a:t>2020-08-17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44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12FF-7EEF-43BA-B707-EC5BCFF11B2D}" type="datetime1">
              <a:rPr lang="en-US" smtClean="0"/>
              <a:t>2020-08-17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578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2A9B-2DB0-46E9-A67A-B172835E6820}" type="datetime1">
              <a:rPr lang="en-US" smtClean="0"/>
              <a:t>2020-08-17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587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9D15-42D7-4F1E-8617-6A48FA1AD09F}" type="datetime1">
              <a:rPr lang="en-US" smtClean="0"/>
              <a:t>2020-08-17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47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7C60F-DEF7-42A8-8DEE-B0CFD330B565}" type="datetime1">
              <a:rPr lang="en-US" smtClean="0"/>
              <a:t>2020-08-17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458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7424"/>
            <a:ext cx="3933825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2891" y="987425"/>
            <a:ext cx="6182497" cy="48736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51CFC-A515-47FD-9F17-E28931A38122}" type="datetime1">
              <a:rPr lang="en-US" smtClean="0"/>
              <a:t>2020-08-17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55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7424"/>
            <a:ext cx="3933825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EBB6-FDEE-49DA-A199-E6A5BB52CE0B}" type="datetime1">
              <a:rPr lang="en-US" smtClean="0"/>
              <a:t>2020-08-17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36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6B635-8956-4C34-9F4C-029D7EE76C17}" type="datetime1">
              <a:rPr lang="en-US" smtClean="0"/>
              <a:t>2020-08-17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35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FBB1A-0EAB-472C-8E82-8B196B1661E8}" type="datetime1">
              <a:rPr lang="en-US" smtClean="0"/>
              <a:t>2020-08-17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132-D0D3-4182-9F3A-A2B393A6F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59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8278" y="705802"/>
            <a:ext cx="9181075" cy="984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F1AA-1D60-47CC-BD6B-AE490D0CA410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Lending Club Case Study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1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9353" y="325938"/>
            <a:ext cx="1446786" cy="3798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535" b="100000" l="0" r="100000">
                        <a14:foregroundMark x1="19244" y1="37433" x2="19244" y2="37433"/>
                        <a14:foregroundMark x1="31959" y1="47059" x2="31959" y2="47059"/>
                        <a14:foregroundMark x1="19931" y1="64171" x2="19931" y2="64171"/>
                        <a14:foregroundMark x1="28179" y1="70053" x2="28179" y2="70053"/>
                        <a14:foregroundMark x1="42612" y1="71123" x2="42612" y2="71123"/>
                        <a14:foregroundMark x1="55326" y1="65775" x2="55326" y2="65775"/>
                        <a14:foregroundMark x1="61856" y1="66845" x2="61856" y2="66845"/>
                        <a14:foregroundMark x1="37113" y1="24599" x2="37113" y2="24599"/>
                        <a14:foregroundMark x1="34708" y1="11765" x2="34708" y2="11765"/>
                        <a14:foregroundMark x1="23711" y1="11765" x2="23711" y2="11765"/>
                        <a14:foregroundMark x1="23711" y1="22995" x2="23711" y2="22995"/>
                        <a14:foregroundMark x1="39863" y1="40107" x2="39863" y2="40107"/>
                        <a14:foregroundMark x1="26460" y1="47059" x2="26460" y2="4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766"/>
            <a:ext cx="1268279" cy="81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34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1478" y="305369"/>
            <a:ext cx="9144000" cy="3193774"/>
          </a:xfrm>
        </p:spPr>
        <p:txBody>
          <a:bodyPr>
            <a:normAutofit/>
          </a:bodyPr>
          <a:lstStyle/>
          <a:p>
            <a:r>
              <a:rPr lang="en-IN" sz="2800" dirty="0"/>
              <a:t>LENDING CLUB ASSIGNMENT</a:t>
            </a:r>
            <a:br>
              <a:rPr lang="en-IN" sz="2800" dirty="0"/>
            </a:b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SUBMISSION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442" y="4793845"/>
            <a:ext cx="6138856" cy="1531917"/>
          </a:xfrm>
        </p:spPr>
        <p:txBody>
          <a:bodyPr>
            <a:normAutofit/>
          </a:bodyPr>
          <a:lstStyle/>
          <a:p>
            <a:pPr algn="l"/>
            <a:r>
              <a:rPr lang="en-IN" sz="1800" dirty="0"/>
              <a:t>Group Facilitator: </a:t>
            </a:r>
            <a:r>
              <a:rPr lang="en-IN" sz="1800" dirty="0" err="1"/>
              <a:t>Reshma</a:t>
            </a:r>
            <a:r>
              <a:rPr lang="en-IN" sz="1800" dirty="0"/>
              <a:t> </a:t>
            </a:r>
            <a:r>
              <a:rPr lang="en-IN" sz="1800" dirty="0" err="1"/>
              <a:t>Ranjitkumar</a:t>
            </a:r>
            <a:r>
              <a:rPr lang="en-IN" sz="1800" dirty="0"/>
              <a:t> </a:t>
            </a:r>
            <a:r>
              <a:rPr lang="en-IN" sz="1800" dirty="0" err="1"/>
              <a:t>Shenoy</a:t>
            </a:r>
            <a:endParaRPr lang="en-IN" sz="1800" dirty="0"/>
          </a:p>
          <a:p>
            <a:pPr algn="l"/>
            <a:r>
              <a:rPr lang="en-IN" sz="1800" dirty="0"/>
              <a:t>Team Member : </a:t>
            </a:r>
            <a:r>
              <a:rPr lang="en-IN" sz="1800" dirty="0" err="1"/>
              <a:t>Mayank</a:t>
            </a:r>
            <a:r>
              <a:rPr lang="en-IN" sz="1800" dirty="0"/>
              <a:t> </a:t>
            </a:r>
            <a:r>
              <a:rPr lang="en-IN" sz="1800" dirty="0" err="1"/>
              <a:t>Shekhar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673A4-AD8E-4ECD-BB54-44D29FAE04F0}" type="datetime1">
              <a:rPr lang="en-US" smtClean="0"/>
              <a:t>2020-08-17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</a:p>
        </p:txBody>
      </p:sp>
    </p:spTree>
    <p:extLst>
      <p:ext uri="{BB962C8B-B14F-4D97-AF65-F5344CB8AC3E}">
        <p14:creationId xmlns:p14="http://schemas.microsoft.com/office/powerpoint/2010/main" val="3414739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800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49" y="1358538"/>
            <a:ext cx="11168742" cy="484065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u="sng" dirty="0" smtClean="0"/>
          </a:p>
          <a:p>
            <a:pPr marL="0" indent="0">
              <a:buNone/>
            </a:pPr>
            <a:r>
              <a:rPr lang="en-IN" sz="2000" u="sng" dirty="0" smtClean="0"/>
              <a:t>Problem </a:t>
            </a:r>
            <a:r>
              <a:rPr lang="en-IN" sz="2000" u="sng" dirty="0"/>
              <a:t>statement </a:t>
            </a:r>
            <a:r>
              <a:rPr lang="en-IN" sz="2000" dirty="0"/>
              <a:t>: </a:t>
            </a:r>
            <a:endParaRPr lang="en-IN" sz="2000" dirty="0" smtClean="0"/>
          </a:p>
          <a:p>
            <a:r>
              <a:rPr lang="en-IN" sz="1800" dirty="0" smtClean="0"/>
              <a:t>Find </a:t>
            </a:r>
            <a:r>
              <a:rPr lang="en-IN" sz="1800" dirty="0"/>
              <a:t>the driving factors behind loan defaulters which in return will decrease the credit loss</a:t>
            </a:r>
            <a:r>
              <a:rPr lang="en-IN" sz="1600" dirty="0"/>
              <a:t>.</a:t>
            </a:r>
            <a:endParaRPr lang="en-US" sz="1600" dirty="0"/>
          </a:p>
          <a:p>
            <a:endParaRPr lang="en-IN" sz="2000" dirty="0"/>
          </a:p>
          <a:p>
            <a:pPr marL="0" indent="0">
              <a:buNone/>
            </a:pPr>
            <a:r>
              <a:rPr lang="en-IN" sz="2000" u="sng" dirty="0"/>
              <a:t>Constraints </a:t>
            </a:r>
            <a:r>
              <a:rPr lang="en-IN" sz="2000" dirty="0"/>
              <a:t> : </a:t>
            </a:r>
            <a:endParaRPr lang="en-IN" sz="2000" dirty="0" smtClean="0"/>
          </a:p>
          <a:p>
            <a:r>
              <a:rPr lang="en-IN" sz="1800" dirty="0" smtClean="0"/>
              <a:t>No </a:t>
            </a:r>
            <a:r>
              <a:rPr lang="en-IN" sz="1800" dirty="0"/>
              <a:t>Business Constraints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u="sng" dirty="0"/>
              <a:t>Dataset description :</a:t>
            </a:r>
          </a:p>
          <a:p>
            <a:r>
              <a:rPr lang="en-IN" sz="1800" dirty="0" err="1"/>
              <a:t>Loan.csv</a:t>
            </a:r>
            <a:r>
              <a:rPr lang="en-IN" sz="1800" dirty="0"/>
              <a:t> : </a:t>
            </a:r>
            <a:r>
              <a:rPr lang="en-US" sz="1800" dirty="0"/>
              <a:t>It contains the complete loan data for all loans issued through the time period 2007 to 2011.</a:t>
            </a:r>
            <a:endParaRPr lang="en-IN" sz="1800" u="sng" dirty="0"/>
          </a:p>
          <a:p>
            <a:r>
              <a:rPr lang="en-IN" sz="1800" dirty="0" err="1"/>
              <a:t>Data_Dict.xlsx</a:t>
            </a:r>
            <a:r>
              <a:rPr lang="en-IN" sz="1800" dirty="0"/>
              <a:t> : It contains meta data of each columns.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EE17-EF47-437A-BA69-F5EFAE03D9C7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75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C100A-CE07-46CB-8E6C-BA1E85863E30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2020-08-17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Lending Club Case Study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416701"/>
              </p:ext>
            </p:extLst>
          </p:nvPr>
        </p:nvGraphicFramePr>
        <p:xfrm>
          <a:off x="807598" y="987620"/>
          <a:ext cx="5547604" cy="4595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802">
                  <a:extLst>
                    <a:ext uri="{9D8B030D-6E8A-4147-A177-3AD203B41FA5}">
                      <a16:colId xmlns:a16="http://schemas.microsoft.com/office/drawing/2014/main" val="1241940067"/>
                    </a:ext>
                  </a:extLst>
                </a:gridCol>
                <a:gridCol w="2773802">
                  <a:extLst>
                    <a:ext uri="{9D8B030D-6E8A-4147-A177-3AD203B41FA5}">
                      <a16:colId xmlns:a16="http://schemas.microsoft.com/office/drawing/2014/main" val="2922305083"/>
                    </a:ext>
                  </a:extLst>
                </a:gridCol>
              </a:tblGrid>
              <a:tr h="7363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416941"/>
                  </a:ext>
                </a:extLst>
              </a:tr>
              <a:tr h="50929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r>
                        <a:rPr lang="en-US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of columns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000303"/>
                  </a:ext>
                </a:extLst>
              </a:tr>
              <a:tr h="39379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r>
                        <a:rPr lang="en-US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of columns considered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293844"/>
                  </a:ext>
                </a:extLst>
              </a:tr>
              <a:tr h="57512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Considered</a:t>
                      </a:r>
                      <a:r>
                        <a:rPr lang="en-US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columns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Grade, term,</a:t>
                      </a:r>
                      <a:r>
                        <a:rPr lang="en-US" sz="1400" dirty="0"/>
                        <a:t>, '</a:t>
                      </a:r>
                      <a:r>
                        <a:rPr lang="en-US" sz="1400" dirty="0" err="1"/>
                        <a:t>member_id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loan_amnt</a:t>
                      </a:r>
                      <a:r>
                        <a:rPr lang="en-US" sz="1400" dirty="0"/>
                        <a:t>', 'term', '</a:t>
                      </a:r>
                      <a:r>
                        <a:rPr lang="en-US" sz="1400" dirty="0" err="1"/>
                        <a:t>int_rate','grade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emp_length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home_ownership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annual_inc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verification_status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loan_status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desc</a:t>
                      </a:r>
                      <a:r>
                        <a:rPr lang="en-US" sz="1400" dirty="0"/>
                        <a:t>', 'purpose', '</a:t>
                      </a:r>
                      <a:r>
                        <a:rPr lang="en-US" sz="1400" dirty="0" err="1"/>
                        <a:t>dti</a:t>
                      </a:r>
                      <a:r>
                        <a:rPr lang="en-US" sz="1400" dirty="0"/>
                        <a:t>', 'delinq_2yrs', '</a:t>
                      </a:r>
                      <a:r>
                        <a:rPr lang="en-US" sz="1400" dirty="0" err="1"/>
                        <a:t>pub_rec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revol_bal</a:t>
                      </a:r>
                      <a:r>
                        <a:rPr lang="en-US" sz="1400" dirty="0"/>
                        <a:t>', '</a:t>
                      </a:r>
                      <a:r>
                        <a:rPr lang="en-US" sz="1400" dirty="0" err="1"/>
                        <a:t>revol_util</a:t>
                      </a:r>
                      <a:r>
                        <a:rPr lang="en-US" sz="1400" dirty="0"/>
                        <a:t>',, '</a:t>
                      </a:r>
                      <a:r>
                        <a:rPr lang="en-US" sz="1400" dirty="0" err="1"/>
                        <a:t>pub_rec_bankruptcies</a:t>
                      </a:r>
                      <a:r>
                        <a:rPr lang="en-US" sz="1400" dirty="0"/>
                        <a:t>'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890132"/>
                  </a:ext>
                </a:extLst>
              </a:tr>
              <a:tr h="85118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Derived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int_rate_level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loan_amnt_level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annual_inc_level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has_desc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dti_level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loan_income_ratio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loan_income_ratio_level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revol_util_level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388408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53400" y="765293"/>
            <a:ext cx="2348089" cy="9595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Considering each column and deciding which is useful metric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53400" y="1978848"/>
            <a:ext cx="2348089" cy="9595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with imputations/removal/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data_types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53399" y="3237558"/>
            <a:ext cx="2348089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Analysis: Each finalized columns are tested, plotted and analyzed.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3399" y="4445672"/>
            <a:ext cx="2348089" cy="9595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Analysis: Pairs of columns are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tested,plotted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analyzed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3399" y="5698941"/>
            <a:ext cx="2348089" cy="9595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metric concluded</a:t>
            </a:r>
          </a:p>
        </p:txBody>
      </p:sp>
      <p:cxnSp>
        <p:nvCxnSpPr>
          <p:cNvPr id="13" name="Straight Arrow Connector 12"/>
          <p:cNvCxnSpPr>
            <a:stCxn id="7" idx="2"/>
            <a:endCxn id="8" idx="0"/>
          </p:cNvCxnSpPr>
          <p:nvPr/>
        </p:nvCxnSpPr>
        <p:spPr>
          <a:xfrm>
            <a:off x="9327445" y="1724849"/>
            <a:ext cx="0" cy="253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2"/>
            <a:endCxn id="9" idx="0"/>
          </p:cNvCxnSpPr>
          <p:nvPr/>
        </p:nvCxnSpPr>
        <p:spPr>
          <a:xfrm flipH="1">
            <a:off x="9327444" y="2938404"/>
            <a:ext cx="1" cy="299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  <a:endCxn id="10" idx="0"/>
          </p:cNvCxnSpPr>
          <p:nvPr/>
        </p:nvCxnSpPr>
        <p:spPr>
          <a:xfrm>
            <a:off x="9327444" y="4151959"/>
            <a:ext cx="0" cy="293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1" idx="0"/>
          </p:cNvCxnSpPr>
          <p:nvPr/>
        </p:nvCxnSpPr>
        <p:spPr>
          <a:xfrm>
            <a:off x="9327444" y="5405228"/>
            <a:ext cx="0" cy="293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stCxn id="10" idx="1"/>
            <a:endCxn id="9" idx="1"/>
          </p:cNvCxnSpPr>
          <p:nvPr/>
        </p:nvCxnSpPr>
        <p:spPr>
          <a:xfrm rot="10800000">
            <a:off x="8153399" y="3694760"/>
            <a:ext cx="12700" cy="123069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199" y="286914"/>
            <a:ext cx="1738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Taken</a:t>
            </a:r>
          </a:p>
        </p:txBody>
      </p:sp>
      <p:sp>
        <p:nvSpPr>
          <p:cNvPr id="36" name="TextBox 35"/>
          <p:cNvSpPr txBox="1"/>
          <p:nvPr/>
        </p:nvSpPr>
        <p:spPr>
          <a:xfrm flipH="1">
            <a:off x="4841804" y="103691"/>
            <a:ext cx="33242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</p:txBody>
      </p:sp>
    </p:spTree>
    <p:extLst>
      <p:ext uri="{BB962C8B-B14F-4D97-AF65-F5344CB8AC3E}">
        <p14:creationId xmlns:p14="http://schemas.microsoft.com/office/powerpoint/2010/main" val="1593491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6780" y="359121"/>
            <a:ext cx="9313817" cy="856138"/>
          </a:xfrm>
        </p:spPr>
        <p:txBody>
          <a:bodyPr>
            <a:noAutofit/>
          </a:bodyPr>
          <a:lstStyle/>
          <a:p>
            <a:pPr algn="ctr"/>
            <a:r>
              <a:rPr lang="en-IN" sz="3200" dirty="0"/>
              <a:t>Grade </a:t>
            </a:r>
            <a:r>
              <a:rPr lang="en-IN" sz="3200" dirty="0" smtClean="0"/>
              <a:t>vs Rate of borrowers </a:t>
            </a:r>
            <a:endParaRPr lang="en-IN" sz="320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99CB-5FE6-4C90-8374-1DCB79236704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3688" y="1397821"/>
            <a:ext cx="6005422" cy="47759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840E1B-1DE9-BF47-9C68-C9BE01904DC5}"/>
              </a:ext>
            </a:extLst>
          </p:cNvPr>
          <p:cNvSpPr txBox="1"/>
          <p:nvPr/>
        </p:nvSpPr>
        <p:spPr>
          <a:xfrm>
            <a:off x="452176" y="1989574"/>
            <a:ext cx="517490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Grade A, B have more fully paid borrowers as compared to defaulters.</a:t>
            </a:r>
          </a:p>
          <a:p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Though there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small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fully paid and defaulting, no of defaulters starts to increase from Grade C.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can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claim that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if the borrower has grade above “C”, he/she is more likely to default.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511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269" y="135001"/>
            <a:ext cx="9313817" cy="856138"/>
          </a:xfrm>
        </p:spPr>
        <p:txBody>
          <a:bodyPr>
            <a:noAutofit/>
          </a:bodyPr>
          <a:lstStyle/>
          <a:p>
            <a:pPr algn="ctr"/>
            <a:r>
              <a:rPr lang="en-IN" sz="3200" dirty="0"/>
              <a:t>Interest Rate </a:t>
            </a:r>
            <a:r>
              <a:rPr lang="en-IN" sz="3200" dirty="0" smtClean="0"/>
              <a:t>vs</a:t>
            </a:r>
            <a:r>
              <a:rPr lang="en-IN" sz="3200" dirty="0" smtClean="0"/>
              <a:t> </a:t>
            </a:r>
            <a:r>
              <a:rPr lang="en-IN" sz="3200" dirty="0"/>
              <a:t>Loan Status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9498-84C9-442F-9D03-B95E0B7389AC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7150" y="3594119"/>
            <a:ext cx="4316272" cy="26197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8880B4-F708-8745-AF72-596BE1FDF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150" y="813004"/>
            <a:ext cx="4316272" cy="26386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A59B31-E2B7-6D49-BDAD-478F8280A5C3}"/>
              </a:ext>
            </a:extLst>
          </p:cNvPr>
          <p:cNvSpPr txBox="1"/>
          <p:nvPr/>
        </p:nvSpPr>
        <p:spPr>
          <a:xfrm>
            <a:off x="411982" y="3235142"/>
            <a:ext cx="61897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:</a:t>
            </a: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ore no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defaulters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lie 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interest rate “medium” and “high”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average,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borrowers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default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interest rate is above 13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claim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rate is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 13%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the borrower is more likely to default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EFE91-8D5A-C94B-AC77-AB21563DF883}"/>
              </a:ext>
            </a:extLst>
          </p:cNvPr>
          <p:cNvSpPr txBox="1"/>
          <p:nvPr/>
        </p:nvSpPr>
        <p:spPr>
          <a:xfrm>
            <a:off x="411982" y="1342358"/>
            <a:ext cx="533406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: </a:t>
            </a:r>
          </a:p>
          <a:p>
            <a:pPr marL="285750" indent="-276225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: Interest Rate &lt;=10%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: Interest 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etween the range{10,18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: Interest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Rate 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811700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4615"/>
            <a:ext cx="9313817" cy="85613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Loan Amount Vs </a:t>
            </a:r>
            <a:r>
              <a:rPr lang="en-IN" sz="3200" dirty="0"/>
              <a:t>Loan Status</a:t>
            </a:r>
            <a:endParaRPr lang="en-US" sz="3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80998" y="960753"/>
            <a:ext cx="5118100" cy="27787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2C408-7BCB-4F19-90F9-8AE0ED261D5B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37708" y="6356350"/>
            <a:ext cx="4114800" cy="365125"/>
          </a:xfrm>
        </p:spPr>
        <p:txBody>
          <a:bodyPr/>
          <a:lstStyle/>
          <a:p>
            <a:r>
              <a:rPr lang="en-IN" dirty="0"/>
              <a:t>Lending Club Case Study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55D739-17F3-A34C-822C-71A73B397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998" y="3791115"/>
            <a:ext cx="5118100" cy="28085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A71534-4808-F442-A8F5-4887BE50140B}"/>
              </a:ext>
            </a:extLst>
          </p:cNvPr>
          <p:cNvSpPr txBox="1"/>
          <p:nvPr/>
        </p:nvSpPr>
        <p:spPr>
          <a:xfrm>
            <a:off x="592853" y="2165357"/>
            <a:ext cx="583809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 loan amount is greater than 10K, no of defaulters are more than fully paid.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can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claim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if a borrower ask for loan amount greater than 10K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then he/she could probably default hence necessary actions needs to be taken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915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715" y="338851"/>
            <a:ext cx="9313817" cy="85613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Annual Income Vs Loan Status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2422" y="1496218"/>
            <a:ext cx="4824074" cy="45589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613F-3C14-4269-83A5-5D25A1C6A88F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E82B4B-1688-A849-A471-5F0D72039D40}"/>
              </a:ext>
            </a:extLst>
          </p:cNvPr>
          <p:cNvSpPr txBox="1"/>
          <p:nvPr/>
        </p:nvSpPr>
        <p:spPr>
          <a:xfrm>
            <a:off x="557684" y="2390674"/>
            <a:ext cx="415583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Borrower having annual income less that 50k are likely to  default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Hence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actions </a:t>
            </a:r>
            <a:r>
              <a:rPr lang="en-US" sz="1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wrt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interest rates or granted loan amount should be considered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441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462" y="194734"/>
            <a:ext cx="9313817" cy="85613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Loan/Annual Income </a:t>
            </a:r>
            <a:r>
              <a:rPr lang="en-US" sz="3200" dirty="0" smtClean="0"/>
              <a:t>vs </a:t>
            </a:r>
            <a:r>
              <a:rPr lang="en-US" sz="3200" dirty="0"/>
              <a:t>Loan Status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2913" y="1050873"/>
            <a:ext cx="5154804" cy="27859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FC50-F08A-4898-8FAE-2DD3E8A8C5F8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07971" y="6356350"/>
            <a:ext cx="4114800" cy="365125"/>
          </a:xfrm>
        </p:spPr>
        <p:txBody>
          <a:bodyPr/>
          <a:lstStyle/>
          <a:p>
            <a:r>
              <a:rPr lang="en-IN" dirty="0"/>
              <a:t>Lending Club Case Study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D17FB-D16E-4545-B1CF-9219BD8AFF12}"/>
              </a:ext>
            </a:extLst>
          </p:cNvPr>
          <p:cNvSpPr txBox="1"/>
          <p:nvPr/>
        </p:nvSpPr>
        <p:spPr>
          <a:xfrm>
            <a:off x="411980" y="1304343"/>
            <a:ext cx="579690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Loan/Annual Income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(Loan amount/Annual Income)*100</a:t>
            </a:r>
          </a:p>
          <a:p>
            <a:pPr marL="285750" indent="-276225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Rate &lt;15%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: Interest Rate Between (15,50)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Rate&gt;=50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9E2015-9962-5F44-9EA0-6097E6834FC8}"/>
              </a:ext>
            </a:extLst>
          </p:cNvPr>
          <p:cNvSpPr txBox="1"/>
          <p:nvPr/>
        </p:nvSpPr>
        <p:spPr>
          <a:xfrm>
            <a:off x="401933" y="3287397"/>
            <a:ext cx="567731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the loan/income ratio, more are the defaulters.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an average,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borrowers having loan/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annual_income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greater than 20% are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can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claim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if a borrower having a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loan/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income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ratio greater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20%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is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likely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default.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DAA3A5-29FE-864E-9C7C-88635F7EC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913" y="3940944"/>
            <a:ext cx="5154804" cy="27805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126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891" y="293399"/>
            <a:ext cx="9313817" cy="856138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Revolving Utilization Rate </a:t>
            </a:r>
            <a:r>
              <a:rPr lang="en-US" sz="3200" dirty="0" smtClean="0"/>
              <a:t>vs </a:t>
            </a:r>
            <a:r>
              <a:rPr lang="en-US" sz="3200" dirty="0"/>
              <a:t>Loan Status</a:t>
            </a:r>
            <a:r>
              <a:rPr lang="en-US" sz="3200" b="1" i="1" dirty="0"/>
              <a:t/>
            </a:r>
            <a:br>
              <a:rPr lang="en-US" sz="3200" b="1" i="1" dirty="0"/>
            </a:br>
            <a:endParaRPr lang="en-US" sz="3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6717" y="3752943"/>
            <a:ext cx="4749800" cy="26034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ED87-5038-4741-B75D-43273E9DAD5B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96D72F-B9E8-8F49-B197-1AE65AF7E6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717" y="931611"/>
            <a:ext cx="4749800" cy="28213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3865C3-036A-2642-8F02-C8272D445B59}"/>
              </a:ext>
            </a:extLst>
          </p:cNvPr>
          <p:cNvSpPr txBox="1"/>
          <p:nvPr/>
        </p:nvSpPr>
        <p:spPr>
          <a:xfrm>
            <a:off x="411982" y="1336193"/>
            <a:ext cx="518495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76225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: Interest Rate &lt;30%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: Interest Rate Between (30,60)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: Interest Rate&gt;=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AA43DA-589E-EB45-9C7C-6685ECDEF7E8}"/>
              </a:ext>
            </a:extLst>
          </p:cNvPr>
          <p:cNvSpPr txBox="1"/>
          <p:nvPr/>
        </p:nvSpPr>
        <p:spPr>
          <a:xfrm>
            <a:off x="460128" y="2991169"/>
            <a:ext cx="567731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Defaulters generally have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evolving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tilization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average, borrowers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revolving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tilization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ate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than 60%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default.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can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claim that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borrower having a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revolving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tilization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greater than 60%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more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likely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default.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183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406" y="0"/>
            <a:ext cx="9313817" cy="856138"/>
          </a:xfrm>
        </p:spPr>
        <p:txBody>
          <a:bodyPr>
            <a:normAutofit/>
          </a:bodyPr>
          <a:lstStyle/>
          <a:p>
            <a:r>
              <a:rPr lang="en-US" sz="3200" dirty="0" smtClean="0"/>
              <a:t>		Purpose vs Rate of borrowers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4696-0F7B-4B8B-A825-A9173698E4EB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  <a:endParaRPr lang="en-IN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588" y="911218"/>
            <a:ext cx="5397852" cy="5445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AA43DA-589E-EB45-9C7C-6685ECDEF7E8}"/>
              </a:ext>
            </a:extLst>
          </p:cNvPr>
          <p:cNvSpPr txBox="1"/>
          <p:nvPr/>
        </p:nvSpPr>
        <p:spPr>
          <a:xfrm>
            <a:off x="335951" y="1850991"/>
            <a:ext cx="567731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many borrowers with purpose as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debt_consolidation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the difference in defaulters and non-defaulters are highest in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small_business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can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claim that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borrower asks loan for small business, there is a high probability of him/her defaulting.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159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6044" y="1201783"/>
            <a:ext cx="6265334" cy="49361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D9F3-3FA3-42AB-8B71-F8D6715EECF8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  <a:endParaRPr lang="en-IN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356361" y="275361"/>
            <a:ext cx="9313817" cy="856138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M</a:t>
            </a:r>
            <a:r>
              <a:rPr lang="en-US" sz="2400" b="1" dirty="0" smtClean="0"/>
              <a:t>ean </a:t>
            </a:r>
            <a:r>
              <a:rPr lang="en-US" sz="2400" b="1" dirty="0"/>
              <a:t>of Loan/Income ratio across </a:t>
            </a:r>
            <a:r>
              <a:rPr lang="en-US" sz="2400" b="1" dirty="0" smtClean="0"/>
              <a:t>Grade </a:t>
            </a:r>
            <a:r>
              <a:rPr lang="en-US" sz="2400" b="1" dirty="0"/>
              <a:t>and </a:t>
            </a:r>
            <a:r>
              <a:rPr lang="en-US" sz="2400" b="1" dirty="0" err="1"/>
              <a:t>H</a:t>
            </a:r>
            <a:r>
              <a:rPr lang="en-US" sz="2400" b="1" dirty="0" err="1" smtClean="0"/>
              <a:t>ome_ownership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A43DA-589E-EB45-9C7C-6685ECDEF7E8}"/>
              </a:ext>
            </a:extLst>
          </p:cNvPr>
          <p:cNvSpPr txBox="1"/>
          <p:nvPr/>
        </p:nvSpPr>
        <p:spPr>
          <a:xfrm>
            <a:off x="165797" y="2599776"/>
            <a:ext cx="567731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borrower doesn't mention his/her home ownership(i.e. other or None) and lies in grade A with purpose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debt_consolidation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loan to income ratio is observed to be very high.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can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claim that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borrower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satisfies above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conditions, there are a high chances of defaulting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3865C3-036A-2642-8F02-C8272D445B59}"/>
              </a:ext>
            </a:extLst>
          </p:cNvPr>
          <p:cNvSpPr txBox="1"/>
          <p:nvPr/>
        </p:nvSpPr>
        <p:spPr>
          <a:xfrm>
            <a:off x="411982" y="1336193"/>
            <a:ext cx="51849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 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Debt_consolidation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defaulters only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50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3140" y="1359693"/>
            <a:ext cx="7558860" cy="53617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CE26-0358-430D-BB52-3F29C866FE9F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  <a:endParaRPr lang="en-IN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383650" y="293420"/>
            <a:ext cx="9313817" cy="856138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M</a:t>
            </a:r>
            <a:r>
              <a:rPr lang="en-US" sz="2400" b="1" dirty="0" smtClean="0"/>
              <a:t>ean </a:t>
            </a:r>
            <a:r>
              <a:rPr lang="en-US" sz="2400" b="1" dirty="0"/>
              <a:t>of </a:t>
            </a:r>
            <a:r>
              <a:rPr lang="en-US" sz="2400" b="1" dirty="0" err="1"/>
              <a:t>R</a:t>
            </a:r>
            <a:r>
              <a:rPr lang="en-US" sz="2400" b="1" dirty="0" err="1" smtClean="0"/>
              <a:t>evol_util</a:t>
            </a:r>
            <a:r>
              <a:rPr lang="en-US" sz="2400" b="1" dirty="0" smtClean="0"/>
              <a:t>  </a:t>
            </a:r>
            <a:r>
              <a:rPr lang="en-US" sz="2400" b="1" dirty="0"/>
              <a:t>across </a:t>
            </a:r>
            <a:r>
              <a:rPr lang="en-US" sz="2400" b="1" dirty="0" smtClean="0"/>
              <a:t>Grade </a:t>
            </a:r>
            <a:r>
              <a:rPr lang="en-US" sz="2400" b="1" dirty="0"/>
              <a:t>and </a:t>
            </a:r>
            <a:r>
              <a:rPr lang="en-US" sz="2400" b="1" dirty="0" err="1"/>
              <a:t>H</a:t>
            </a:r>
            <a:r>
              <a:rPr lang="en-US" sz="2400" b="1" dirty="0" err="1" smtClean="0"/>
              <a:t>ome_ownership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3865C3-036A-2642-8F02-C8272D445B59}"/>
              </a:ext>
            </a:extLst>
          </p:cNvPr>
          <p:cNvSpPr txBox="1"/>
          <p:nvPr/>
        </p:nvSpPr>
        <p:spPr>
          <a:xfrm>
            <a:off x="411982" y="1336193"/>
            <a:ext cx="51849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 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Debt_consolidation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defaulters only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AA43DA-589E-EB45-9C7C-6685ECDEF7E8}"/>
              </a:ext>
            </a:extLst>
          </p:cNvPr>
          <p:cNvSpPr txBox="1"/>
          <p:nvPr/>
        </p:nvSpPr>
        <p:spPr>
          <a:xfrm>
            <a:off x="165798" y="2644932"/>
            <a:ext cx="406753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borrower with purpose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debt_consolidation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having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revolving utilization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greater than 70% and staying in owned or rented house, then he/she may have more probability of defaulting..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can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claim that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borrower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satisfies above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conditions, there are a high chances of defaulting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878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089" y="293515"/>
            <a:ext cx="9420819" cy="856138"/>
          </a:xfrm>
        </p:spPr>
        <p:txBody>
          <a:bodyPr>
            <a:noAutofit/>
          </a:bodyPr>
          <a:lstStyle/>
          <a:p>
            <a:r>
              <a:rPr lang="en-US" sz="3200" dirty="0"/>
              <a:t> </a:t>
            </a:r>
            <a:r>
              <a:rPr lang="en-US" sz="3200" dirty="0" smtClean="0"/>
              <a:t>Rate of borrowers vs </a:t>
            </a:r>
            <a:r>
              <a:rPr lang="en-US" sz="3200" dirty="0"/>
              <a:t>Public record for bankruptcies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7840" y="1496218"/>
            <a:ext cx="6260556" cy="47747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0745-9E00-45AC-A6A4-18922E87E6D1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A43DA-589E-EB45-9C7C-6685ECDEF7E8}"/>
              </a:ext>
            </a:extLst>
          </p:cNvPr>
          <p:cNvSpPr txBox="1"/>
          <p:nvPr/>
        </p:nvSpPr>
        <p:spPr>
          <a:xfrm>
            <a:off x="628642" y="1852284"/>
            <a:ext cx="406753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 with any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bankruptcy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has a higher chance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can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claim that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borrower has a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bankruptcy record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chance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him/her defaulting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654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22391"/>
            <a:ext cx="9313817" cy="856138"/>
          </a:xfrm>
        </p:spPr>
        <p:txBody>
          <a:bodyPr>
            <a:noAutofit/>
          </a:bodyPr>
          <a:lstStyle/>
          <a:p>
            <a:pPr algn="ctr"/>
            <a:r>
              <a:rPr lang="en-IN" sz="3200" dirty="0" smtClean="0"/>
              <a:t>Term vs Rate of borrowers</a:t>
            </a:r>
            <a:endParaRPr lang="en-IN" sz="320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344E-8EF7-4C3D-9501-F1DAC3417F9E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2788" y="1416393"/>
            <a:ext cx="5184911" cy="45594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AA43DA-589E-EB45-9C7C-6685ECDEF7E8}"/>
              </a:ext>
            </a:extLst>
          </p:cNvPr>
          <p:cNvSpPr txBox="1"/>
          <p:nvPr/>
        </p:nvSpPr>
        <p:spPr>
          <a:xfrm>
            <a:off x="628642" y="1852284"/>
            <a:ext cx="40675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Borrowers with term 60 months have evidently larger number of defaulting.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So, we can claim that h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igher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term, higher are the chances of defaulting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650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6542" y="83700"/>
            <a:ext cx="9313817" cy="856138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DTI vs Rate of borrowers </a:t>
            </a:r>
            <a:endParaRPr lang="en-US" sz="3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9869" y="1120702"/>
            <a:ext cx="6261462" cy="523564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09B9A-C216-4393-A70A-F53AC93BE457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A43DA-589E-EB45-9C7C-6685ECDEF7E8}"/>
              </a:ext>
            </a:extLst>
          </p:cNvPr>
          <p:cNvSpPr txBox="1"/>
          <p:nvPr/>
        </p:nvSpPr>
        <p:spPr>
          <a:xfrm>
            <a:off x="594775" y="2856995"/>
            <a:ext cx="406753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DTI is medium or high then chances of the borrower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So, we can claim m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ore specifically that borrowers with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greater than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12, more likely default.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3865C3-036A-2642-8F02-C8272D445B59}"/>
              </a:ext>
            </a:extLst>
          </p:cNvPr>
          <p:cNvSpPr txBox="1"/>
          <p:nvPr/>
        </p:nvSpPr>
        <p:spPr>
          <a:xfrm>
            <a:off x="411982" y="1336193"/>
            <a:ext cx="518495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76225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value &lt;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between (12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,20)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&gt;=20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590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42739-C602-4A20-A1FF-A337A1818C06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  <a:endParaRPr lang="en-IN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289" y="673941"/>
            <a:ext cx="3289139" cy="58649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24187" y="136891"/>
            <a:ext cx="9313817" cy="856138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Mean of loan/</a:t>
            </a:r>
            <a:r>
              <a:rPr lang="en-US" sz="3200" dirty="0" smtClean="0"/>
              <a:t>income for E</a:t>
            </a:r>
            <a:r>
              <a:rPr lang="en-US" sz="3200" dirty="0" smtClean="0"/>
              <a:t>mployment-length and </a:t>
            </a:r>
            <a:r>
              <a:rPr lang="en-US" sz="3200" dirty="0" err="1" smtClean="0"/>
              <a:t>annual_income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A43DA-589E-EB45-9C7C-6685ECDEF7E8}"/>
              </a:ext>
            </a:extLst>
          </p:cNvPr>
          <p:cNvSpPr txBox="1"/>
          <p:nvPr/>
        </p:nvSpPr>
        <p:spPr>
          <a:xfrm>
            <a:off x="838200" y="1694239"/>
            <a:ext cx="406753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borrowers having high loan to income ratio lies in the income group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30K and with 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emp_length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7 or 10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So, we can claim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borrowers with satisfying the above conditions, more likely default.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974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526" y="124209"/>
            <a:ext cx="9313817" cy="85613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Final </a:t>
            </a:r>
            <a:r>
              <a:rPr lang="en-US" sz="3200" dirty="0" smtClean="0"/>
              <a:t>Statement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628" y="843074"/>
            <a:ext cx="11491685" cy="551327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CCA4F-C99C-475D-B51B-FBEBB1AAEA7C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Lending Club Case Study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74414"/>
              </p:ext>
            </p:extLst>
          </p:nvPr>
        </p:nvGraphicFramePr>
        <p:xfrm>
          <a:off x="4936469" y="916804"/>
          <a:ext cx="7066844" cy="5280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6554">
                  <a:extLst>
                    <a:ext uri="{9D8B030D-6E8A-4147-A177-3AD203B41FA5}">
                      <a16:colId xmlns:a16="http://schemas.microsoft.com/office/drawing/2014/main" val="3807690815"/>
                    </a:ext>
                  </a:extLst>
                </a:gridCol>
                <a:gridCol w="1606859">
                  <a:extLst>
                    <a:ext uri="{9D8B030D-6E8A-4147-A177-3AD203B41FA5}">
                      <a16:colId xmlns:a16="http://schemas.microsoft.com/office/drawing/2014/main" val="1035716219"/>
                    </a:ext>
                  </a:extLst>
                </a:gridCol>
                <a:gridCol w="2703431">
                  <a:extLst>
                    <a:ext uri="{9D8B030D-6E8A-4147-A177-3AD203B41FA5}">
                      <a16:colId xmlns:a16="http://schemas.microsoft.com/office/drawing/2014/main" val="2483038189"/>
                    </a:ext>
                  </a:extLst>
                </a:gridCol>
              </a:tblGrid>
              <a:tr h="59715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Chances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defaulting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747432"/>
                  </a:ext>
                </a:extLst>
              </a:tr>
              <a:tr h="428404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 C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395330"/>
                  </a:ext>
                </a:extLst>
              </a:tr>
              <a:tr h="46879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Interest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 13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202185"/>
                  </a:ext>
                </a:extLst>
              </a:tr>
              <a:tr h="46879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 10K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Potentially 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811229"/>
                  </a:ext>
                </a:extLst>
              </a:tr>
              <a:tr h="59715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Potentially 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812945"/>
                  </a:ext>
                </a:extLst>
              </a:tr>
              <a:tr h="59715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Loan/Annual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 20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4620"/>
                  </a:ext>
                </a:extLst>
              </a:tr>
              <a:tr h="59715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Revolving Utilization Rate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 60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78767"/>
                  </a:ext>
                </a:extLst>
              </a:tr>
              <a:tr h="59715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Business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744615"/>
                  </a:ext>
                </a:extLst>
              </a:tr>
              <a:tr h="448189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 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 months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673966"/>
                  </a:ext>
                </a:extLst>
              </a:tr>
              <a:tr h="48081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12%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Potentially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high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459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CAA43DA-589E-EB45-9C7C-6685ECDEF7E8}"/>
              </a:ext>
            </a:extLst>
          </p:cNvPr>
          <p:cNvSpPr txBox="1"/>
          <p:nvPr/>
        </p:nvSpPr>
        <p:spPr>
          <a:xfrm>
            <a:off x="511628" y="1462702"/>
            <a:ext cx="4067536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 shows top 9 driving factors, strongly indicating chances of defaulting.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Along with these 9 factors, there are several combinations of driving variables, mentioned in the previous slides, which identifies with high loan/income ratio, resulting to a default.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300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5491" y="2875280"/>
            <a:ext cx="9313817" cy="856138"/>
          </a:xfrm>
        </p:spPr>
        <p:txBody>
          <a:bodyPr/>
          <a:lstStyle/>
          <a:p>
            <a:pPr algn="ctr"/>
            <a:r>
              <a:rPr lang="en-US" dirty="0" smtClean="0"/>
              <a:t>THE END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926B6-3B86-484E-9A44-A03C615DB79D}" type="datetime1">
              <a:rPr lang="en-US" smtClean="0"/>
              <a:t>2020-08-17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Lending Club Case Study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4630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</TotalTime>
  <Words>1182</Words>
  <Application>Microsoft Office PowerPoint</Application>
  <PresentationFormat>Widescreen</PresentationFormat>
  <Paragraphs>224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LENDING CLUB ASSIGNMENT  SUBMISSION </vt:lpstr>
      <vt:lpstr>ABSTRACT</vt:lpstr>
      <vt:lpstr>PowerPoint Presentation</vt:lpstr>
      <vt:lpstr>Grade vs Rate of borrowers </vt:lpstr>
      <vt:lpstr>Interest Rate vs Loan Status</vt:lpstr>
      <vt:lpstr>Loan Amount Vs Loan Status</vt:lpstr>
      <vt:lpstr>Annual Income Vs Loan Status</vt:lpstr>
      <vt:lpstr>Loan/Annual Income vs Loan Status</vt:lpstr>
      <vt:lpstr>Revolving Utilization Rate vs Loan Status </vt:lpstr>
      <vt:lpstr>  Purpose vs Rate of borrowers</vt:lpstr>
      <vt:lpstr>Mean of Loan/Income ratio across Grade and Home_ownership </vt:lpstr>
      <vt:lpstr>Mean of Revol_util  across Grade and Home_ownership </vt:lpstr>
      <vt:lpstr> Rate of borrowers vs Public record for bankruptcies</vt:lpstr>
      <vt:lpstr>Term vs Rate of borrowers</vt:lpstr>
      <vt:lpstr>DTI vs Rate of borrowers </vt:lpstr>
      <vt:lpstr>Mean of loan/income for Employment-length and annual_income</vt:lpstr>
      <vt:lpstr>Final Statement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Case Study  Submission</dc:title>
  <dc:creator>Chiranjeev</dc:creator>
  <cp:lastModifiedBy>Ramcharan Buddi</cp:lastModifiedBy>
  <cp:revision>95</cp:revision>
  <dcterms:created xsi:type="dcterms:W3CDTF">2016-06-09T08:16:28Z</dcterms:created>
  <dcterms:modified xsi:type="dcterms:W3CDTF">2020-08-17T14:36:03Z</dcterms:modified>
</cp:coreProperties>
</file>